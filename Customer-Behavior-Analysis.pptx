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Noto Serif HK Bold"/>
      <p:regular r:id="rId15"/>
    </p:embeddedFont>
    <p:embeddedFont>
      <p:font typeface="Noto Serif HK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Customer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Shopping patterns, revenue trends, and demographics — powered by Python, SQL, PostgreSQL &amp;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896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Project Overview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24339" y="1334021"/>
            <a:ext cx="2628230" cy="873547"/>
          </a:xfrm>
          <a:prstGeom prst="roundRect">
            <a:avLst>
              <a:gd name="adj" fmla="val 2434"/>
            </a:avLst>
          </a:prstGeom>
          <a:solidFill>
            <a:srgbClr val="5F5153"/>
          </a:solidFill>
          <a:ln/>
        </p:spPr>
      </p:sp>
      <p:sp>
        <p:nvSpPr>
          <p:cNvPr id="5" name="Text 2"/>
          <p:cNvSpPr/>
          <p:nvPr/>
        </p:nvSpPr>
        <p:spPr>
          <a:xfrm>
            <a:off x="6166098" y="14757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Python &amp; Pandas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66098" y="1838995"/>
            <a:ext cx="23447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Data cleaning &amp; preprocessing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24339" y="2349326"/>
            <a:ext cx="2628230" cy="873547"/>
          </a:xfrm>
          <a:prstGeom prst="roundRect">
            <a:avLst>
              <a:gd name="adj" fmla="val 2434"/>
            </a:avLst>
          </a:prstGeom>
          <a:solidFill>
            <a:srgbClr val="5F5153"/>
          </a:solidFill>
          <a:ln/>
        </p:spPr>
      </p:sp>
      <p:sp>
        <p:nvSpPr>
          <p:cNvPr id="8" name="Text 5"/>
          <p:cNvSpPr/>
          <p:nvPr/>
        </p:nvSpPr>
        <p:spPr>
          <a:xfrm>
            <a:off x="6166098" y="249108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66098" y="2854300"/>
            <a:ext cx="23447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Database storage via SQLAlchemy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24339" y="3364632"/>
            <a:ext cx="2628230" cy="1100361"/>
          </a:xfrm>
          <a:prstGeom prst="roundRect">
            <a:avLst>
              <a:gd name="adj" fmla="val 1933"/>
            </a:avLst>
          </a:prstGeom>
          <a:solidFill>
            <a:srgbClr val="5F5153"/>
          </a:solidFill>
          <a:ln/>
        </p:spPr>
      </p:sp>
      <p:sp>
        <p:nvSpPr>
          <p:cNvPr id="11" name="Text 8"/>
          <p:cNvSpPr/>
          <p:nvPr/>
        </p:nvSpPr>
        <p:spPr>
          <a:xfrm>
            <a:off x="6166098" y="35063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Power BI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66098" y="3869606"/>
            <a:ext cx="234471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Interactive dashboard &amp; visualization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656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Dataset Summary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3306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339578"/>
            <a:ext cx="34557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Gender, age groups, subscription status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203306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92092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92092" y="2339578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Categories, amounts, frequency, payment methods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658" y="3076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Reviews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27658" y="3383235"/>
            <a:ext cx="34557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Customer ratings &amp; feedback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92092" y="3076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Shipping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92092" y="3383235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2-Day, Express, Free, Next Day Air, Standard, Store Pickup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51830"/>
            <a:ext cx="4032870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Exploratory Data Analysis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898699"/>
            <a:ext cx="233556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Python &amp; Pandas Workflow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7336" y="1161678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7336" y="1331788"/>
            <a:ext cx="2449116" cy="14288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6" name="Text 4"/>
          <p:cNvSpPr/>
          <p:nvPr/>
        </p:nvSpPr>
        <p:spPr>
          <a:xfrm>
            <a:off x="827336" y="1414611"/>
            <a:ext cx="244911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Standardize column names, remove unnecessary columns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7336" y="1885578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7336" y="2055688"/>
            <a:ext cx="2449116" cy="14288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9" name="Text 7"/>
          <p:cNvSpPr/>
          <p:nvPr/>
        </p:nvSpPr>
        <p:spPr>
          <a:xfrm>
            <a:off x="827336" y="2138511"/>
            <a:ext cx="244911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Fill missing review ratings with median values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7336" y="2609478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7336" y="2779588"/>
            <a:ext cx="2449116" cy="14288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336" y="2862411"/>
            <a:ext cx="244911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Segment customers: Young Adult, Adult, Middle-aged, Senior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7336" y="3333378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7336" y="3503488"/>
            <a:ext cx="2449116" cy="14288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5" name="Text 13"/>
          <p:cNvSpPr/>
          <p:nvPr/>
        </p:nvSpPr>
        <p:spPr>
          <a:xfrm>
            <a:off x="827336" y="3586311"/>
            <a:ext cx="244911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Convert purchase frequency to numerical day format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7336" y="4057278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7336" y="4227388"/>
            <a:ext cx="2449116" cy="14288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8" name="Text 16"/>
          <p:cNvSpPr/>
          <p:nvPr/>
        </p:nvSpPr>
        <p:spPr>
          <a:xfrm>
            <a:off x="827336" y="4310211"/>
            <a:ext cx="244911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Load cleaned dataset into PostgreSQL via SQLAlchemy</a:t>
            </a:r>
            <a:endParaRPr lang="en-US" sz="8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5979" y="1450628"/>
            <a:ext cx="4775299" cy="27059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29457"/>
            <a:ext cx="464008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Key Metrics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26803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3.9K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25717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Total Customers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926803"/>
            <a:ext cx="3987329" cy="31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$59.76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5768206" y="241577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3147566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3.75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1603697" y="37925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Avg Review Rating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0553" y="3147566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73%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5768206" y="37925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Non-Subscribers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572074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Revenue &amp; Sales by Category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1541934"/>
            <a:ext cx="207258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Category Performance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4714503" y="1819647"/>
            <a:ext cx="3759622" cy="692869"/>
          </a:xfrm>
          <a:prstGeom prst="roundRect">
            <a:avLst>
              <a:gd name="adj" fmla="val 9898"/>
            </a:avLst>
          </a:prstGeom>
          <a:solidFill>
            <a:srgbClr val="403234"/>
          </a:solidFill>
          <a:ln w="14288">
            <a:solidFill>
              <a:srgbClr val="786A6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700215" y="1819647"/>
            <a:ext cx="57150" cy="692869"/>
          </a:xfrm>
          <a:prstGeom prst="roundRect">
            <a:avLst>
              <a:gd name="adj" fmla="val 29651"/>
            </a:avLst>
          </a:prstGeom>
          <a:solidFill>
            <a:srgbClr val="E2C2B3"/>
          </a:solidFill>
          <a:ln/>
        </p:spPr>
      </p:sp>
      <p:sp>
        <p:nvSpPr>
          <p:cNvPr id="8" name="Text 4"/>
          <p:cNvSpPr/>
          <p:nvPr/>
        </p:nvSpPr>
        <p:spPr>
          <a:xfrm>
            <a:off x="4884613" y="1946895"/>
            <a:ext cx="141208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👗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 Clothing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884613" y="2222897"/>
            <a:ext cx="34622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Highest revenue &amp; sales volume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714503" y="2602483"/>
            <a:ext cx="3759622" cy="692869"/>
          </a:xfrm>
          <a:prstGeom prst="roundRect">
            <a:avLst>
              <a:gd name="adj" fmla="val 9898"/>
            </a:avLst>
          </a:prstGeom>
          <a:solidFill>
            <a:srgbClr val="403234"/>
          </a:solidFill>
          <a:ln w="14288">
            <a:solidFill>
              <a:srgbClr val="786A6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0215" y="2602483"/>
            <a:ext cx="57150" cy="692869"/>
          </a:xfrm>
          <a:prstGeom prst="roundRect">
            <a:avLst>
              <a:gd name="adj" fmla="val 29651"/>
            </a:avLst>
          </a:prstGeom>
          <a:solidFill>
            <a:srgbClr val="E2C2B3"/>
          </a:solidFill>
          <a:ln/>
        </p:spPr>
      </p:sp>
      <p:sp>
        <p:nvSpPr>
          <p:cNvPr id="12" name="Text 8"/>
          <p:cNvSpPr/>
          <p:nvPr/>
        </p:nvSpPr>
        <p:spPr>
          <a:xfrm>
            <a:off x="4884613" y="2729731"/>
            <a:ext cx="141208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👜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 Accessories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84613" y="3005733"/>
            <a:ext cx="34622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Second in revenue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714503" y="3385319"/>
            <a:ext cx="3759622" cy="692869"/>
          </a:xfrm>
          <a:prstGeom prst="roundRect">
            <a:avLst>
              <a:gd name="adj" fmla="val 9898"/>
            </a:avLst>
          </a:prstGeom>
          <a:solidFill>
            <a:srgbClr val="403234"/>
          </a:solidFill>
          <a:ln w="14288">
            <a:solidFill>
              <a:srgbClr val="786A6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00215" y="3385319"/>
            <a:ext cx="57150" cy="692869"/>
          </a:xfrm>
          <a:prstGeom prst="roundRect">
            <a:avLst>
              <a:gd name="adj" fmla="val 29651"/>
            </a:avLst>
          </a:prstGeom>
          <a:solidFill>
            <a:srgbClr val="E2C2B3"/>
          </a:solidFill>
          <a:ln/>
        </p:spPr>
      </p:sp>
      <p:sp>
        <p:nvSpPr>
          <p:cNvPr id="16" name="Text 12"/>
          <p:cNvSpPr/>
          <p:nvPr/>
        </p:nvSpPr>
        <p:spPr>
          <a:xfrm>
            <a:off x="4884613" y="3512567"/>
            <a:ext cx="183378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👟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 Footwear &amp; Outerwear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84613" y="3788569"/>
            <a:ext cx="34622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Lower but consistent contribution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84944"/>
            <a:ext cx="38352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Customer Insights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901" y="1402333"/>
            <a:ext cx="5213449" cy="29542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20767" y="1145307"/>
            <a:ext cx="2655094" cy="1070297"/>
          </a:xfrm>
          <a:prstGeom prst="roundRect">
            <a:avLst>
              <a:gd name="adj" fmla="val 8543"/>
            </a:avLst>
          </a:prstGeom>
          <a:solidFill>
            <a:srgbClr val="403234"/>
          </a:solidFill>
          <a:ln w="19050">
            <a:solidFill>
              <a:srgbClr val="786A6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01717" y="1145307"/>
            <a:ext cx="76200" cy="1070297"/>
          </a:xfrm>
          <a:prstGeom prst="roundRect">
            <a:avLst>
              <a:gd name="adj" fmla="val 26599"/>
            </a:avLst>
          </a:prstGeom>
          <a:solidFill>
            <a:srgbClr val="E2C2B3"/>
          </a:solidFill>
          <a:ln/>
        </p:spPr>
      </p:sp>
      <p:sp>
        <p:nvSpPr>
          <p:cNvPr id="6" name="Text 3"/>
          <p:cNvSpPr/>
          <p:nvPr/>
        </p:nvSpPr>
        <p:spPr>
          <a:xfrm>
            <a:off x="6232029" y="1299418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Young Adults Lead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32029" y="1639267"/>
            <a:ext cx="228972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Highest sales &amp; revenue across all age groups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20767" y="2344341"/>
            <a:ext cx="2655094" cy="1070297"/>
          </a:xfrm>
          <a:prstGeom prst="roundRect">
            <a:avLst>
              <a:gd name="adj" fmla="val 8543"/>
            </a:avLst>
          </a:prstGeom>
          <a:solidFill>
            <a:srgbClr val="403234"/>
          </a:solidFill>
          <a:ln w="19050">
            <a:solidFill>
              <a:srgbClr val="786A6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01717" y="2344341"/>
            <a:ext cx="76200" cy="1070297"/>
          </a:xfrm>
          <a:prstGeom prst="roundRect">
            <a:avLst>
              <a:gd name="adj" fmla="val 26599"/>
            </a:avLst>
          </a:prstGeom>
          <a:solidFill>
            <a:srgbClr val="E2C2B3"/>
          </a:solidFill>
          <a:ln/>
        </p:spPr>
      </p:sp>
      <p:sp>
        <p:nvSpPr>
          <p:cNvPr id="10" name="Text 7"/>
          <p:cNvSpPr/>
          <p:nvPr/>
        </p:nvSpPr>
        <p:spPr>
          <a:xfrm>
            <a:off x="6232029" y="2498452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Male Customers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32029" y="2838301"/>
            <a:ext cx="228972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Generated higher revenue than female customers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20767" y="3543374"/>
            <a:ext cx="2655094" cy="1070297"/>
          </a:xfrm>
          <a:prstGeom prst="roundRect">
            <a:avLst>
              <a:gd name="adj" fmla="val 8543"/>
            </a:avLst>
          </a:prstGeom>
          <a:solidFill>
            <a:srgbClr val="403234"/>
          </a:solidFill>
          <a:ln w="19050">
            <a:solidFill>
              <a:srgbClr val="786A6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01717" y="3543374"/>
            <a:ext cx="76200" cy="1070297"/>
          </a:xfrm>
          <a:prstGeom prst="roundRect">
            <a:avLst>
              <a:gd name="adj" fmla="val 26599"/>
            </a:avLst>
          </a:prstGeom>
          <a:solidFill>
            <a:srgbClr val="E2C2B3"/>
          </a:solidFill>
          <a:ln/>
        </p:spPr>
      </p:sp>
      <p:sp>
        <p:nvSpPr>
          <p:cNvPr id="14" name="Text 11"/>
          <p:cNvSpPr/>
          <p:nvPr/>
        </p:nvSpPr>
        <p:spPr>
          <a:xfrm>
            <a:off x="6232029" y="369748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Subscription Gap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32029" y="4037335"/>
            <a:ext cx="228972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Only 27% subscribed — major growth opportunity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4331" y="337319"/>
            <a:ext cx="4172992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Business Recommendations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364331" y="777329"/>
            <a:ext cx="4986338" cy="949896"/>
          </a:xfrm>
          <a:prstGeom prst="roundRect">
            <a:avLst>
              <a:gd name="adj" fmla="val 1644"/>
            </a:avLst>
          </a:prstGeom>
          <a:solidFill>
            <a:srgbClr val="5F5153"/>
          </a:solidFill>
          <a:ln/>
        </p:spPr>
      </p:sp>
      <p:sp>
        <p:nvSpPr>
          <p:cNvPr id="5" name="Shape 2"/>
          <p:cNvSpPr/>
          <p:nvPr/>
        </p:nvSpPr>
        <p:spPr>
          <a:xfrm>
            <a:off x="468437" y="881435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E2C2B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10" y="967308"/>
            <a:ext cx="140494" cy="1404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8437" y="1270174"/>
            <a:ext cx="1322636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Boost Subscriptions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68437" y="1478682"/>
            <a:ext cx="4778127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Loyalty rewards &amp; exclusive offers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64331" y="1803648"/>
            <a:ext cx="4986338" cy="949896"/>
          </a:xfrm>
          <a:prstGeom prst="roundRect">
            <a:avLst>
              <a:gd name="adj" fmla="val 1644"/>
            </a:avLst>
          </a:prstGeom>
          <a:solidFill>
            <a:srgbClr val="5F5153"/>
          </a:solidFill>
          <a:ln/>
        </p:spPr>
      </p:sp>
      <p:sp>
        <p:nvSpPr>
          <p:cNvPr id="10" name="Shape 6"/>
          <p:cNvSpPr/>
          <p:nvPr/>
        </p:nvSpPr>
        <p:spPr>
          <a:xfrm>
            <a:off x="468437" y="1907753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E2C2B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10" y="1993627"/>
            <a:ext cx="140494" cy="1404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8437" y="2296492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Focus on Clothing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68437" y="2505001"/>
            <a:ext cx="4778127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Top revenue category — prioritize marketing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364331" y="2829967"/>
            <a:ext cx="4986338" cy="949896"/>
          </a:xfrm>
          <a:prstGeom prst="roundRect">
            <a:avLst>
              <a:gd name="adj" fmla="val 1644"/>
            </a:avLst>
          </a:prstGeom>
          <a:solidFill>
            <a:srgbClr val="5F5153"/>
          </a:solidFill>
          <a:ln/>
        </p:spPr>
      </p:sp>
      <p:sp>
        <p:nvSpPr>
          <p:cNvPr id="15" name="Shape 10"/>
          <p:cNvSpPr/>
          <p:nvPr/>
        </p:nvSpPr>
        <p:spPr>
          <a:xfrm>
            <a:off x="468437" y="2934072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E2C2B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10" y="3019946"/>
            <a:ext cx="140494" cy="14049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8437" y="3322811"/>
            <a:ext cx="1332161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Target Young Adults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68437" y="3531319"/>
            <a:ext cx="4778127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Personalized recs &amp; social campaigns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364331" y="3856286"/>
            <a:ext cx="4986338" cy="949896"/>
          </a:xfrm>
          <a:prstGeom prst="roundRect">
            <a:avLst>
              <a:gd name="adj" fmla="val 1644"/>
            </a:avLst>
          </a:prstGeom>
          <a:solidFill>
            <a:srgbClr val="5F5153"/>
          </a:solidFill>
          <a:ln/>
        </p:spPr>
      </p:sp>
      <p:sp>
        <p:nvSpPr>
          <p:cNvPr id="20" name="Shape 14"/>
          <p:cNvSpPr/>
          <p:nvPr/>
        </p:nvSpPr>
        <p:spPr>
          <a:xfrm>
            <a:off x="468437" y="3960391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E2C2B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10" y="4046265"/>
            <a:ext cx="140494" cy="1404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8437" y="4349130"/>
            <a:ext cx="141602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Improve Engagement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68437" y="4557638"/>
            <a:ext cx="4778127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Better shipping &amp; customer support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2026-05-25T02:08:21Z</dcterms:created>
  <dcterms:modified xsi:type="dcterms:W3CDTF">2026-05-25T02:08:21Z</dcterms:modified>
</cp:coreProperties>
</file>